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1f7a78886b94947" /><Relationship Type="http://schemas.openxmlformats.org/officeDocument/2006/relationships/extended-properties" Target="/docProps/app.xml" Id="R1114dd7c39e042de" /><Relationship Type="http://schemas.openxmlformats.org/officeDocument/2006/relationships/officeDocument" Target="/ppt/presentation.xml" Id="R5b70cf5512da4e7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8e4def7b3804f8e"/>
  </p:sldMasterIdLst>
  <p:notesMasterIdLst>
    <p:notesMasterId xmlns:r="http://schemas.openxmlformats.org/officeDocument/2006/relationships" r:id="Red86df1e59c84cc5"/>
  </p:notesMasterIdLst>
  <p:sldIdLst>
    <p:sldId xmlns:r="http://schemas.openxmlformats.org/officeDocument/2006/relationships" id="256" r:id="R0463866e7c7e459d"/>
    <p:sldId xmlns:r="http://schemas.openxmlformats.org/officeDocument/2006/relationships" id="257" r:id="Rd915c541667b4628"/>
    <p:sldId xmlns:r="http://schemas.openxmlformats.org/officeDocument/2006/relationships" id="258" r:id="Ra7daaf3b56824e2d"/>
    <p:sldId xmlns:r="http://schemas.openxmlformats.org/officeDocument/2006/relationships" id="259" r:id="R031de82d9f3744ab"/>
    <p:sldId xmlns:r="http://schemas.openxmlformats.org/officeDocument/2006/relationships" id="260" r:id="R95106e2076f94805"/>
    <p:sldId xmlns:r="http://schemas.openxmlformats.org/officeDocument/2006/relationships" id="261" r:id="Rfcb7bc1b36204be2"/>
    <p:sldId xmlns:r="http://schemas.openxmlformats.org/officeDocument/2006/relationships" id="262" r:id="R1cc30a627aa740fa"/>
    <p:sldId xmlns:r="http://schemas.openxmlformats.org/officeDocument/2006/relationships" id="263" r:id="R1e52e9b41d05460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b65748878354e11" /><Relationship Type="http://schemas.openxmlformats.org/officeDocument/2006/relationships/slideMaster" Target="/ppt/slideMasters/slideMaster1.xml" Id="Rf8e4def7b3804f8e" /><Relationship Type="http://schemas.openxmlformats.org/officeDocument/2006/relationships/notesMaster" Target="/ppt/notesMasters/notesMaster1.xml" Id="Red86df1e59c84cc5" /><Relationship Type="http://schemas.openxmlformats.org/officeDocument/2006/relationships/presProps" Target="/ppt/presProps.xml" Id="Rbfc469e78eef4409" /><Relationship Type="http://schemas.openxmlformats.org/officeDocument/2006/relationships/tableStyles" Target="/ppt/tableStyles.xml" Id="R84950c425be4412b" /><Relationship Type="http://schemas.openxmlformats.org/officeDocument/2006/relationships/slide" Target="/ppt/slides/slide1.xml" Id="R0463866e7c7e459d" /><Relationship Type="http://schemas.openxmlformats.org/officeDocument/2006/relationships/slide" Target="/ppt/slides/slide2.xml" Id="Rd915c541667b4628" /><Relationship Type="http://schemas.openxmlformats.org/officeDocument/2006/relationships/slide" Target="/ppt/slides/slide3.xml" Id="Ra7daaf3b56824e2d" /><Relationship Type="http://schemas.openxmlformats.org/officeDocument/2006/relationships/slide" Target="/ppt/slides/slide4.xml" Id="R031de82d9f3744ab" /><Relationship Type="http://schemas.openxmlformats.org/officeDocument/2006/relationships/slide" Target="/ppt/slides/slide5.xml" Id="R95106e2076f94805" /><Relationship Type="http://schemas.openxmlformats.org/officeDocument/2006/relationships/slide" Target="/ppt/slides/slide6.xml" Id="Rfcb7bc1b36204be2" /><Relationship Type="http://schemas.openxmlformats.org/officeDocument/2006/relationships/slide" Target="/ppt/slides/slide7.xml" Id="R1cc30a627aa740fa" /><Relationship Type="http://schemas.openxmlformats.org/officeDocument/2006/relationships/slide" Target="/ppt/slides/slide8.xml" Id="R1e52e9b41d05460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9b0aaaacbee4a9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e25b4cdd6954912" /><Relationship Type="http://schemas.openxmlformats.org/officeDocument/2006/relationships/notesMaster" Target="/ppt/notesMasters/notesMaster1.xml" Id="R1c920397e149479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d15532b2ac346f2" /><Relationship Type="http://schemas.openxmlformats.org/officeDocument/2006/relationships/notesMaster" Target="/ppt/notesMasters/notesMaster1.xml" Id="R8c934ffb4b87498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6fb1725852646e3" /><Relationship Type="http://schemas.openxmlformats.org/officeDocument/2006/relationships/notesMaster" Target="/ppt/notesMasters/notesMaster1.xml" Id="R805c3f61a636436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8ed5bdf22664d1f" /><Relationship Type="http://schemas.openxmlformats.org/officeDocument/2006/relationships/notesMaster" Target="/ppt/notesMasters/notesMaster1.xml" Id="Re79bf828db1a46a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1112f45ef9a44b1" /><Relationship Type="http://schemas.openxmlformats.org/officeDocument/2006/relationships/notesMaster" Target="/ppt/notesMasters/notesMaster1.xml" Id="R0131fa89404b40f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28fe2aa815f461a" /><Relationship Type="http://schemas.openxmlformats.org/officeDocument/2006/relationships/notesMaster" Target="/ppt/notesMasters/notesMaster1.xml" Id="R0ac9fd50a9a64df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4e598ab93514932" /><Relationship Type="http://schemas.openxmlformats.org/officeDocument/2006/relationships/notesMaster" Target="/ppt/notesMasters/notesMaster1.xml" Id="R31e444b388f34a7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b858a5db40a46bb" /><Relationship Type="http://schemas.openxmlformats.org/officeDocument/2006/relationships/notesMaster" Target="/ppt/notesMasters/notesMaster1.xml" Id="R2fc61149d7eb4cd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Hi, my name is Michelle Lentz, and I am pitching The Vinyl Concierge.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It is an AI-powered recommendation and owner-intelligence platform for independent record stores. The pitch is simple: customers get warmer, more useful music discovery, and store owners get earlier visibility into what customers are asking for before that demand is obvious in sales.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product is not just a themed recommendation engine. The business value is the loop: customer discovery becomes privacy-protected owner insight.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Independent record stores work in a category where taste, trust, and timing matter.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Customers often know a mood, an artist, or a listening context, but they may not know what record to buy next.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Owners have the other side of the same problem: they need to decide what to stock or feature before demand is clear. So the product asks whether customer discovery can also create useful owner signals.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current prototype has two connected experiences.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On the customer side, someone enters preferences, gets five records, and can respond with saved interest or ratings.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On the owner side, those actions become cautious sourcing signals. The dashboard reviews patterns, but it does not pretend one request is the same as a sale. A recommendation engine alone is easy to copy. A store-specific loop is the more defensible business opportunity.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am going to switch to the prototype now and walk through the professor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First I will start as a customer. I will use Quick Demo Fill so the flow is easy to see within the time limit, then generate a five-record recommendation stack.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Notice that the prototype clearly labels its limits. Then I will move into Owner Intelligence from the same session. The point is not that the app can run a record store today. The point is that the product thesis is implemented and visible.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prototype proves that the core workflow is coherent.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It can take a customer request, generate recommendations, preserve private session context for signed-in users, create owner-readable interest signals, and show those signals in an owner review workflow.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best version of this app is not trying to make AI sound magical. It is trying to make the handoff between customer discovery and owner judgment more useful.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most important learning from feedback was that trust depends on honesty.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External testers liked the identity and concept, but they surfaced readability issues, unclear input requirements, terminology problems, and interface elements that accidentally implied working cart or audio features.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final version uses larger type, clearer prompts, match-confidence labels, simpler language, heart-based saved interest, and visible prototype notices. AI-assisted review also helped identify risks in role access, signal validation, and owner-dashboard overconfidence.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biggest risk is overclaiming.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Recommendation activity is useful, but it is not the same as purchase intent. A limited catalog can create availability bias. Broad genre tags can produce weak matches. Owner dashboards can create automation bias if the app makes signals look stronger than they are.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prototype addresses those risks through transparency and governance: prototype notices, match labels, private sessions, anonymized owner signals, Firestore validation, role protection, and human review before inventory decisions.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My deployment judgment is cautious but positive, which is exactly how I would frame the ask to an internal stakeholder or early investor.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Vinyl Concierge should not be deployed commercially in its current prototype form. Even a small pilot would need live inventory, POS or ecommerce connections, purchase validation, stronger monitoring, and store-specific rollout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My ask would be permission to move into an integration-ready pre-pilot: connect one store's real catalog and transaction systems, test whether saved-interest behavior predicts buying behavior, and measure whether owners find the dashboard useful without replacing their judgment.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core takeaway is this: the recommendation engine is not the whole product. The stronger business is the feedback loop between customer discovery, privacy-protected interest signals, owner review, and inventory planning. Thank you.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cc892640fd432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1d1f34815684c84" /><Relationship Type="http://schemas.openxmlformats.org/officeDocument/2006/relationships/slideLayout" Target="/ppt/slideLayouts/slideLayout1.xml" Id="R473d32750ceb44d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73d32750ceb44d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860ba3a9fe43fa" /><Relationship Type="http://schemas.openxmlformats.org/officeDocument/2006/relationships/image" Target="/ppt/media/image.png" Id="R373630c508534382" /><Relationship Type="http://schemas.openxmlformats.org/officeDocument/2006/relationships/image" Target="/ppt/media/image2.png" Id="R360c66c35fc9492c" /><Relationship Type="http://schemas.openxmlformats.org/officeDocument/2006/relationships/notesSlide" Target="/ppt/notesSlides/notesSlide1.xml" Id="R5b0c46745d97419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d580cd65254068" /><Relationship Type="http://schemas.openxmlformats.org/officeDocument/2006/relationships/notesSlide" Target="/ppt/notesSlides/notesSlide2.xml" Id="R5c143ee0906c4d1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03c3864d194acd" /><Relationship Type="http://schemas.openxmlformats.org/officeDocument/2006/relationships/notesSlide" Target="/ppt/notesSlides/notesSlide3.xml" Id="R9d89df3e2aba415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6d27edc1e54b18" /><Relationship Type="http://schemas.openxmlformats.org/officeDocument/2006/relationships/image" Target="/ppt/media/image3.png" Id="R941a183faf1048be" /><Relationship Type="http://schemas.openxmlformats.org/officeDocument/2006/relationships/notesSlide" Target="/ppt/notesSlides/notesSlide4.xml" Id="R833c693cca4d477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56a13690634e41" /><Relationship Type="http://schemas.openxmlformats.org/officeDocument/2006/relationships/image" Target="/ppt/media/image4.png" Id="R88a9231f049240b0" /><Relationship Type="http://schemas.openxmlformats.org/officeDocument/2006/relationships/notesSlide" Target="/ppt/notesSlides/notesSlide5.xml" Id="Re34a40c91b0848a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eac47b6a054a3d" /><Relationship Type="http://schemas.openxmlformats.org/officeDocument/2006/relationships/notesSlide" Target="/ppt/notesSlides/notesSlide6.xml" Id="R7d8c3d18abf64d2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27fbbe14fe4fa2" /><Relationship Type="http://schemas.openxmlformats.org/officeDocument/2006/relationships/notesSlide" Target="/ppt/notesSlides/notesSlide7.xml" Id="R8032ba6e3439430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3c622109384e7d" /><Relationship Type="http://schemas.openxmlformats.org/officeDocument/2006/relationships/image" Target="/ppt/media/image5.png" Id="Rc23fe6ccd04a46d4" /><Relationship Type="http://schemas.openxmlformats.org/officeDocument/2006/relationships/notesSlide" Target="/ppt/notesSlides/notesSlide8.xml" Id="Rce59b88300224c7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EF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3630c508534382"/>
          <a:stretch xmlns:a="http://schemas.openxmlformats.org/drawingml/2006/main"/>
        </p:blipFill>
        <p:spPr>
          <a:xfrm xmlns:a="http://schemas.openxmlformats.org/drawingml/2006/main">
            <a:off x="1366372" y="400050"/>
            <a:ext cx="1058207" cy="8763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27F4F0-6A3A-405F-A9AB-37775091E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2095500" cy="323850"/>
          </a:xfrm>
          <a:prstGeom xmlns:a="http://schemas.openxmlformats.org/drawingml/2006/main" prst="roundRect">
            <a:avLst>
              <a:gd name="adj" fmla="val 29412"/>
            </a:avLst>
          </a:prstGeom>
          <a:solidFill xmlns:a="http://schemas.openxmlformats.org/drawingml/2006/main">
            <a:srgbClr val="1D1D1B"/>
          </a:solidFill>
          <a:ln xmlns:a="http://schemas.openxmlformats.org/drawingml/2006/main" w="0">
            <a:solidFill>
              <a:srgbClr val="1D1D1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4EFE3"/>
                </a:solidFill>
              </a:defRPr>
            </a:pPr>
            <a:r>
              <a:rPr sz="975" b="1">
                <a:solidFill>
                  <a:srgbClr val="F4EFE3"/>
                </a:solidFill>
              </a:rPr>
              <a:t>FINAL CAPSTONE PITCH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19C1CF-9E55-4E72-8504-BF4F62257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695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1D1D1B"/>
                </a:solidFill>
              </a:defRPr>
            </a:pPr>
            <a:r>
              <a:rPr sz="4350" b="1" i="0">
                <a:solidFill>
                  <a:srgbClr val="1D1D1B"/>
                </a:solidFill>
              </a:rPr>
              <a:t>The Vinyl Concierge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21AF89-7CEB-478C-9F19-D861EB6AC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43250"/>
            <a:ext cx="619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8B2418"/>
                </a:solidFill>
              </a:defRPr>
            </a:pPr>
            <a:r>
              <a:rPr sz="1875" b="0" i="0">
                <a:solidFill>
                  <a:srgbClr val="8B2418"/>
                </a:solidFill>
              </a:rPr>
              <a:t>AI-assisted record recommendations that become owner-ready interest signals.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812090-4358-42A0-9DA2-681432AF9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81550"/>
            <a:ext cx="4095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D1D1B"/>
                </a:solidFill>
              </a:defRPr>
            </a:pPr>
            <a:r>
              <a:rPr sz="1575" b="0" i="0">
                <a:solidFill>
                  <a:srgbClr val="1D1D1B"/>
                </a:solidFill>
              </a:rPr>
              <a:t>Michelle Lentz</a:t>
            </a:r>
          </a:p>
          <a:p xmlns:a="http://schemas.openxmlformats.org/drawingml/2006/main">
            <a:pPr algn="l">
              <a:defRPr sz="1575" b="0" i="0">
                <a:solidFill>
                  <a:srgbClr val="1D1D1B"/>
                </a:solidFill>
              </a:defRPr>
            </a:pPr>
            <a:r>
              <a:rPr sz="1575" b="0" i="0">
                <a:solidFill>
                  <a:srgbClr val="1D1D1B"/>
                </a:solidFill>
              </a:rPr>
              <a:t>MS-AIB Applied Project</a:t>
            </a:r>
          </a:p>
          <a:p xmlns:a="http://schemas.openxmlformats.org/drawingml/2006/main">
            <a:pPr algn="l">
              <a:defRPr sz="1575" b="0" i="0">
                <a:solidFill>
                  <a:srgbClr val="1D1D1B"/>
                </a:solidFill>
              </a:defRPr>
            </a:pPr>
            <a:r>
              <a:rPr sz="1575" b="0" i="0">
                <a:solidFill>
                  <a:srgbClr val="1D1D1B"/>
                </a:solidFill>
              </a:rPr>
              <a:t>Summer 2026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0c66c35fc9492c"/>
          <a:srcRect xmlns:a="http://schemas.openxmlformats.org/drawingml/2006/main" l="24877" t="0" r="2487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24750" y="762000"/>
            <a:ext cx="3905250" cy="4857750"/>
          </a:xfrm>
          <a:prstGeom xmlns:a="http://schemas.openxmlformats.org/drawingml/2006/main" prst="roundRect">
            <a:avLst>
              <a:gd name="adj" fmla="val 2439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A11225-4BBC-447A-91B0-08AA8B9DC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8B2418"/>
                </a:solidFill>
              </a:defRPr>
            </a:pPr>
            <a:r>
              <a:rPr sz="975" b="1" i="0">
                <a:solidFill>
                  <a:srgbClr val="8B2418"/>
                </a:solidFill>
              </a:rPr>
              <a:t>The Vinyl Concierge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68F3F6-EBE3-40C9-8D50-0B3892696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389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8B2418"/>
                </a:solidFill>
              </a:defRPr>
            </a:pPr>
            <a:r>
              <a:rPr sz="975" b="1" i="0">
                <a:solidFill>
                  <a:srgbClr val="8B2418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2462356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EF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436C514-7072-4632-A72C-8AF82BEC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7429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1D1D1B"/>
                </a:solidFill>
              </a:defRPr>
            </a:pPr>
            <a:r>
              <a:rPr sz="3225" b="1" i="0">
                <a:solidFill>
                  <a:srgbClr val="1D1D1B"/>
                </a:solidFill>
              </a:rPr>
              <a:t>Independent stores need discovery signals they can trust.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1270C2-9F8E-4AD9-992B-2C7512AD9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66850"/>
            <a:ext cx="7524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8B2418"/>
                </a:solidFill>
              </a:defRPr>
            </a:pPr>
            <a:r>
              <a:rPr sz="1575" b="0" i="0">
                <a:solidFill>
                  <a:srgbClr val="8B2418"/>
                </a:solidFill>
              </a:rPr>
              <a:t>The customer problem and the owner problem are connected.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696205-53F7-434C-99D2-9D0CE0E64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5265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1D1B"/>
          </a:solidFill>
          <a:ln xmlns:a="http://schemas.openxmlformats.org/drawingml/2006/main" w="0">
            <a:solidFill>
              <a:srgbClr val="DB1D1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B72D29-5756-4DCF-89E6-BFC8AEB96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8B2418"/>
                </a:solidFill>
              </a:defRPr>
            </a:pPr>
            <a:r>
              <a:rPr sz="975" b="1" i="0">
                <a:solidFill>
                  <a:srgbClr val="8B2418"/>
                </a:solidFill>
              </a:rPr>
              <a:t>The Vinyl Concierge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984DB7-10A1-4E04-AD8E-EE3599F27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389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8B2418"/>
                </a:solidFill>
              </a:defRPr>
            </a:pPr>
            <a:r>
              <a:rPr sz="975" b="1" i="0">
                <a:solidFill>
                  <a:srgbClr val="8B2418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9978F9-1616-490D-958A-7A21751C4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32385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ECE5D2"/>
          </a:solidFill>
          <a:ln xmlns:a="http://schemas.openxmlformats.org/drawingml/2006/main" w="9525">
            <a:solidFill>
              <a:srgbClr val="D6C7A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B13D3E-1E9C-47C5-AFEB-AF29E7B39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81300"/>
            <a:ext cx="32385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ECE5D2"/>
          </a:solidFill>
          <a:ln xmlns:a="http://schemas.openxmlformats.org/drawingml/2006/main" w="9525">
            <a:solidFill>
              <a:srgbClr val="D6C7A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384AA1-B135-4900-8E0D-D1926C5D7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81300"/>
            <a:ext cx="32385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ECE5D2"/>
          </a:solidFill>
          <a:ln xmlns:a="http://schemas.openxmlformats.org/drawingml/2006/main" w="9525">
            <a:solidFill>
              <a:srgbClr val="D6C7A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6A1C1A-295C-4CDA-9F5F-A6F5672D2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2895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D1D1B"/>
                </a:solidFill>
              </a:defRPr>
            </a:pPr>
            <a:r>
              <a:rPr sz="2025" b="1" i="0">
                <a:solidFill>
                  <a:srgbClr val="1D1D1B"/>
                </a:solidFill>
              </a:rPr>
              <a:t>Customers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1FEC31-9780-4940-BAE7-BEF6DB721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43300"/>
            <a:ext cx="247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D1D1B"/>
                </a:solidFill>
              </a:defRPr>
            </a:pPr>
            <a:r>
              <a:rPr sz="1575" b="0" i="0">
                <a:solidFill>
                  <a:srgbClr val="1D1D1B"/>
                </a:solidFill>
              </a:rPr>
              <a:t>Know a mood, artist, or setting, but may not know which record should come home.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C25353-A872-4026-8AC6-19FCB379D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02895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D1D1B"/>
                </a:solidFill>
              </a:defRPr>
            </a:pPr>
            <a:r>
              <a:rPr sz="2025" b="1" i="0">
                <a:solidFill>
                  <a:srgbClr val="1D1D1B"/>
                </a:solidFill>
              </a:rPr>
              <a:t>Owners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5B1571-DC8B-4058-8954-24D5495B2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543300"/>
            <a:ext cx="25241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D1D1B"/>
                </a:solidFill>
              </a:defRPr>
            </a:pPr>
            <a:r>
              <a:rPr sz="1575" b="0" i="0">
                <a:solidFill>
                  <a:srgbClr val="1D1D1B"/>
                </a:solidFill>
              </a:rPr>
              <a:t>Need to stock, restock, and feature titles before sales data makes demand obvious.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CAD901-C870-4A1D-94D1-38C782430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2895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D1D1B"/>
                </a:solidFill>
              </a:defRPr>
            </a:pPr>
            <a:r>
              <a:rPr sz="2025" b="1" i="0">
                <a:solidFill>
                  <a:srgbClr val="1D1D1B"/>
                </a:solidFill>
              </a:rPr>
              <a:t>Opportunity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B17E7B-012B-4C7D-9449-FF0FAF964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543300"/>
            <a:ext cx="25336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D1D1B"/>
                </a:solidFill>
              </a:defRPr>
            </a:pPr>
            <a:r>
              <a:rPr sz="1575" b="0" i="0">
                <a:solidFill>
                  <a:srgbClr val="1D1D1B"/>
                </a:solidFill>
              </a:rPr>
              <a:t>Turn discovery activity into early, anonymized signals that still require human judgment.</a:t>
            </a:r>
          </a:p>
        </p:txBody>
      </p:sp>
    </p:spTree>
    <p:extLst>
      <p:ext uri="{BB962C8B-B14F-4D97-AF65-F5344CB8AC3E}">
        <p14:creationId xmlns:p14="http://schemas.microsoft.com/office/powerpoint/2010/main" val="81421051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EF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FE9BF3D-2F02-413E-9AD8-2796925D2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7429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1D1D1B"/>
                </a:solidFill>
              </a:defRPr>
            </a:pPr>
            <a:r>
              <a:rPr sz="3225" b="1" i="0">
                <a:solidFill>
                  <a:srgbClr val="1D1D1B"/>
                </a:solidFill>
              </a:rPr>
              <a:t>The product turns recommendations into owner intelligence.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EFA345-9A03-429C-BC9B-49D00C0DB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66850"/>
            <a:ext cx="7524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8B2418"/>
                </a:solidFill>
              </a:defRPr>
            </a:pPr>
            <a:r>
              <a:rPr sz="1575" b="0" i="0">
                <a:solidFill>
                  <a:srgbClr val="8B2418"/>
                </a:solidFill>
              </a:rPr>
              <a:t>The defensible idea is the feedback loop, not a standalone recommender.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0B1223-58A1-4F5A-89EF-B3B5AE536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5265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1D1B"/>
          </a:solidFill>
          <a:ln xmlns:a="http://schemas.openxmlformats.org/drawingml/2006/main" w="0">
            <a:solidFill>
              <a:srgbClr val="DB1D1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7CCC51-CD7E-47EE-BBCB-B09DF7284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8B2418"/>
                </a:solidFill>
              </a:defRPr>
            </a:pPr>
            <a:r>
              <a:rPr sz="975" b="1" i="0">
                <a:solidFill>
                  <a:srgbClr val="8B2418"/>
                </a:solidFill>
              </a:rPr>
              <a:t>The Vinyl Concierge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CF50B1-8EC5-4101-BFBB-74A5FCC38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389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8B2418"/>
                </a:solidFill>
              </a:defRPr>
            </a:pPr>
            <a:r>
              <a:rPr sz="975" b="1" i="0">
                <a:solidFill>
                  <a:srgbClr val="8B2418"/>
                </a:solidFill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4BAB88-4D0D-49BD-B83D-43BAD6DD9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19400"/>
            <a:ext cx="2333625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ECE5D2"/>
          </a:solidFill>
          <a:ln xmlns:a="http://schemas.openxmlformats.org/drawingml/2006/main" w="9525">
            <a:solidFill>
              <a:srgbClr val="D6C7A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583633-D671-46CB-A9D9-AFAF272A2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67050"/>
            <a:ext cx="819150" cy="323850"/>
          </a:xfrm>
          <a:prstGeom xmlns:a="http://schemas.openxmlformats.org/drawingml/2006/main" prst="roundRect">
            <a:avLst>
              <a:gd name="adj" fmla="val 29412"/>
            </a:avLst>
          </a:prstGeom>
          <a:solidFill xmlns:a="http://schemas.openxmlformats.org/drawingml/2006/main">
            <a:srgbClr val="DB1D1B"/>
          </a:solidFill>
          <a:ln xmlns:a="http://schemas.openxmlformats.org/drawingml/2006/main" w="0">
            <a:solidFill>
              <a:srgbClr val="DB1D1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4EFE3"/>
                </a:solidFill>
              </a:defRPr>
            </a:pPr>
            <a:r>
              <a:rPr sz="975" b="1">
                <a:solidFill>
                  <a:srgbClr val="F4EFE3"/>
                </a:solidFill>
              </a:rPr>
              <a:t>STEP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D0EA1E-F6D4-46F7-B59F-9E95338F9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433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D1D1B"/>
                </a:solidFill>
              </a:defRPr>
            </a:pPr>
            <a:r>
              <a:rPr sz="1875" b="1" i="0">
                <a:solidFill>
                  <a:srgbClr val="1D1D1B"/>
                </a:solidFill>
              </a:rPr>
              <a:t>Customer request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39E726-1777-48D3-A3D7-0F125A60A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38600"/>
            <a:ext cx="1809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8B2418"/>
                </a:solidFill>
              </a:defRPr>
            </a:pPr>
            <a:r>
              <a:rPr sz="1350" b="0" i="0">
                <a:solidFill>
                  <a:srgbClr val="8B2418"/>
                </a:solidFill>
              </a:rPr>
              <a:t>Artist, genre, mood, or listening setting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4DBBEA-35AE-4FBD-84FE-3A4E7EF90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562350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DB1D1B"/>
                </a:solidFill>
              </a:defRPr>
            </a:pPr>
            <a:r>
              <a:rPr sz="2250" b="1" i="0">
                <a:solidFill>
                  <a:srgbClr val="DB1D1B"/>
                </a:solidFill>
              </a:rPr>
              <a:t>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7F8112-CABC-44FE-8D42-4410EBAC9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819400"/>
            <a:ext cx="2333625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ECE5D2"/>
          </a:solidFill>
          <a:ln xmlns:a="http://schemas.openxmlformats.org/drawingml/2006/main" w="9525">
            <a:solidFill>
              <a:srgbClr val="D6C7A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CF7602-18C7-4872-B02B-4FFAB42E7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3067050"/>
            <a:ext cx="819150" cy="323850"/>
          </a:xfrm>
          <a:prstGeom xmlns:a="http://schemas.openxmlformats.org/drawingml/2006/main" prst="roundRect">
            <a:avLst>
              <a:gd name="adj" fmla="val 29412"/>
            </a:avLst>
          </a:prstGeom>
          <a:solidFill xmlns:a="http://schemas.openxmlformats.org/drawingml/2006/main">
            <a:srgbClr val="DB1D1B"/>
          </a:solidFill>
          <a:ln xmlns:a="http://schemas.openxmlformats.org/drawingml/2006/main" w="0">
            <a:solidFill>
              <a:srgbClr val="DB1D1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4EFE3"/>
                </a:solidFill>
              </a:defRPr>
            </a:pPr>
            <a:r>
              <a:rPr sz="975" b="1">
                <a:solidFill>
                  <a:srgbClr val="F4EFE3"/>
                </a:solidFill>
              </a:rPr>
              <a:t>STEP 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3044B1-8A95-4EC7-8614-768CAF95D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35433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D1D1B"/>
                </a:solidFill>
              </a:defRPr>
            </a:pPr>
            <a:r>
              <a:rPr sz="1875" b="1" i="0">
                <a:solidFill>
                  <a:srgbClr val="1D1D1B"/>
                </a:solidFill>
              </a:rPr>
              <a:t>Five-record stack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4FD846-866D-465E-9EB9-F3A2ECB28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4038600"/>
            <a:ext cx="1809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8B2418"/>
                </a:solidFill>
              </a:defRPr>
            </a:pPr>
            <a:r>
              <a:rPr sz="1350" b="0" i="0">
                <a:solidFill>
                  <a:srgbClr val="8B2418"/>
                </a:solidFill>
              </a:rPr>
              <a:t>Match labels and shelf notes from a limited demo catalog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65ACEC-519B-46C5-A6EE-DD67405CD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562350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DB1D1B"/>
                </a:solidFill>
              </a:defRPr>
            </a:pPr>
            <a:r>
              <a:rPr sz="2250" b="1" i="0">
                <a:solidFill>
                  <a:srgbClr val="DB1D1B"/>
                </a:solidFill>
              </a:rPr>
              <a:t>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C604B5-09FF-4487-823A-811B26B29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819400"/>
            <a:ext cx="2333625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ECE5D2"/>
          </a:solidFill>
          <a:ln xmlns:a="http://schemas.openxmlformats.org/drawingml/2006/main" w="9525">
            <a:solidFill>
              <a:srgbClr val="D6C7A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E7307A-BCBC-4B29-809B-5D7F738E4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067050"/>
            <a:ext cx="819150" cy="323850"/>
          </a:xfrm>
          <a:prstGeom xmlns:a="http://schemas.openxmlformats.org/drawingml/2006/main" prst="roundRect">
            <a:avLst>
              <a:gd name="adj" fmla="val 29412"/>
            </a:avLst>
          </a:prstGeom>
          <a:solidFill xmlns:a="http://schemas.openxmlformats.org/drawingml/2006/main">
            <a:srgbClr val="DB1D1B"/>
          </a:solidFill>
          <a:ln xmlns:a="http://schemas.openxmlformats.org/drawingml/2006/main" w="0">
            <a:solidFill>
              <a:srgbClr val="DB1D1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4EFE3"/>
                </a:solidFill>
              </a:defRPr>
            </a:pPr>
            <a:r>
              <a:rPr sz="975" b="1">
                <a:solidFill>
                  <a:srgbClr val="F4EFE3"/>
                </a:solidFill>
              </a:rPr>
              <a:t>STEP 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039D15-58F9-4036-A429-606409B62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5433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D1D1B"/>
                </a:solidFill>
              </a:defRPr>
            </a:pPr>
            <a:r>
              <a:rPr sz="1875" b="1" i="0">
                <a:solidFill>
                  <a:srgbClr val="1D1D1B"/>
                </a:solidFill>
              </a:rPr>
              <a:t>Interest response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9BB614-12CB-46A8-89FB-C2D8C7252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038600"/>
            <a:ext cx="1809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8B2418"/>
                </a:solidFill>
              </a:defRPr>
            </a:pPr>
            <a:r>
              <a:rPr sz="1350" b="0" i="0">
                <a:solidFill>
                  <a:srgbClr val="8B2418"/>
                </a:solidFill>
              </a:rPr>
              <a:t>Saved interest, thumbs up, or thumbs down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91777D-75E3-45B2-A6CE-FA000F9C9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562350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DB1D1B"/>
                </a:solidFill>
              </a:defRPr>
            </a:pPr>
            <a:r>
              <a:rPr sz="2250" b="1" i="0">
                <a:solidFill>
                  <a:srgbClr val="DB1D1B"/>
                </a:solidFill>
              </a:rPr>
              <a:t>&gt;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524164-DECB-4A46-A82F-5673A16D5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819400"/>
            <a:ext cx="2333625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ECE5D2"/>
          </a:solidFill>
          <a:ln xmlns:a="http://schemas.openxmlformats.org/drawingml/2006/main" w="9525">
            <a:solidFill>
              <a:srgbClr val="D6C7A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B0A886-FF85-4B37-A31F-81775457D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3067050"/>
            <a:ext cx="819150" cy="323850"/>
          </a:xfrm>
          <a:prstGeom xmlns:a="http://schemas.openxmlformats.org/drawingml/2006/main" prst="roundRect">
            <a:avLst>
              <a:gd name="adj" fmla="val 29412"/>
            </a:avLst>
          </a:prstGeom>
          <a:solidFill xmlns:a="http://schemas.openxmlformats.org/drawingml/2006/main">
            <a:srgbClr val="DB1D1B"/>
          </a:solidFill>
          <a:ln xmlns:a="http://schemas.openxmlformats.org/drawingml/2006/main" w="0">
            <a:solidFill>
              <a:srgbClr val="DB1D1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4EFE3"/>
                </a:solidFill>
              </a:defRPr>
            </a:pPr>
            <a:r>
              <a:rPr sz="975" b="1">
                <a:solidFill>
                  <a:srgbClr val="F4EFE3"/>
                </a:solidFill>
              </a:rPr>
              <a:t>STEP 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A6F847-3FC6-468E-AE1E-E01F736ED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35433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D1D1B"/>
                </a:solidFill>
              </a:defRPr>
            </a:pPr>
            <a:r>
              <a:rPr sz="1875" b="1" i="0">
                <a:solidFill>
                  <a:srgbClr val="1D1D1B"/>
                </a:solidFill>
              </a:rPr>
              <a:t>Owner review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2B96B7-D678-420D-B85F-2BDA47D07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4038600"/>
            <a:ext cx="1809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8B2418"/>
                </a:solidFill>
              </a:defRPr>
            </a:pPr>
            <a:r>
              <a:rPr sz="1350" b="0" i="0">
                <a:solidFill>
                  <a:srgbClr val="8B2418"/>
                </a:solidFill>
              </a:rPr>
              <a:t>Album, artist, and genre signals for cautious sourcing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0D3FD4-AE92-468C-AFD5-77E783B20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14950"/>
            <a:ext cx="914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D1D1B"/>
                </a:solidFill>
              </a:defRPr>
            </a:pPr>
            <a:r>
              <a:rPr sz="1725" b="1" i="0">
                <a:solidFill>
                  <a:srgbClr val="1D1D1B"/>
                </a:solidFill>
              </a:rPr>
              <a:t>A single recommendation request is not a sale. It is one signal that becomes useful when it is repeated, validated, and reviewed.</a:t>
            </a:r>
          </a:p>
        </p:txBody>
      </p:sp>
    </p:spTree>
    <p:extLst>
      <p:ext uri="{BB962C8B-B14F-4D97-AF65-F5344CB8AC3E}">
        <p14:creationId xmlns:p14="http://schemas.microsoft.com/office/powerpoint/2010/main" val="7641880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EF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E72580C-B9E0-4A75-8D01-711B7573D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7429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1D1D1B"/>
                </a:solidFill>
              </a:defRPr>
            </a:pPr>
            <a:r>
              <a:rPr sz="3225" b="1" i="0">
                <a:solidFill>
                  <a:srgbClr val="1D1D1B"/>
                </a:solidFill>
              </a:rPr>
              <a:t>The live demo follows one customer into owner review.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952E09-8D05-450B-AC07-44F4E0F92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66850"/>
            <a:ext cx="7524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8B2418"/>
                </a:solidFill>
              </a:defRPr>
            </a:pPr>
            <a:r>
              <a:rPr sz="1575" b="0" i="0">
                <a:solidFill>
                  <a:srgbClr val="8B2418"/>
                </a:solidFill>
              </a:rPr>
              <a:t>This is the Zoom screen-share bridge.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EF51A2-67CB-4F40-9754-AE18E8F91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5265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1D1B"/>
          </a:solidFill>
          <a:ln xmlns:a="http://schemas.openxmlformats.org/drawingml/2006/main" w="0">
            <a:solidFill>
              <a:srgbClr val="DB1D1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ADE010-0568-4169-9103-9C0F09697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8B2418"/>
                </a:solidFill>
              </a:defRPr>
            </a:pPr>
            <a:r>
              <a:rPr sz="975" b="1" i="0">
                <a:solidFill>
                  <a:srgbClr val="8B2418"/>
                </a:solidFill>
              </a:rPr>
              <a:t>The Vinyl Concierge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6C8F97-DEC5-4292-AE06-2EF142548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389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8B2418"/>
                </a:solidFill>
              </a:defRPr>
            </a:pPr>
            <a:r>
              <a:rPr sz="975" b="1" i="0">
                <a:solidFill>
                  <a:srgbClr val="8B2418"/>
                </a:solidFill>
              </a:rPr>
              <a:t>04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1a183faf1048be"/>
          <a:srcRect xmlns:a="http://schemas.openxmlformats.org/drawingml/2006/main" l="0" t="5077" r="0" b="507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686050"/>
            <a:ext cx="4953000" cy="2781300"/>
          </a:xfrm>
          <a:prstGeom xmlns:a="http://schemas.openxmlformats.org/drawingml/2006/main" prst="roundRect">
            <a:avLst>
              <a:gd name="adj" fmla="val 3425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3B05AC-DC4B-4CB8-A238-A3B225DD3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24150"/>
            <a:ext cx="4762500" cy="27432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ECE5D2"/>
          </a:solidFill>
          <a:ln xmlns:a="http://schemas.openxmlformats.org/drawingml/2006/main" w="9525">
            <a:solidFill>
              <a:srgbClr val="D6C7A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82DB33-28FD-44A8-9B1C-12A61BE81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908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D1D1B"/>
                </a:solidFill>
              </a:defRPr>
            </a:pPr>
            <a:r>
              <a:rPr sz="2250" b="1" i="0">
                <a:solidFill>
                  <a:srgbClr val="1D1D1B"/>
                </a:solidFill>
              </a:rPr>
              <a:t>Demo path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2ED0A2-0B64-4A1B-9443-537F0CAD2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562350"/>
            <a:ext cx="40005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D1D1B"/>
                </a:solidFill>
              </a:defRPr>
            </a:pPr>
            <a:r>
              <a:rPr sz="1650" b="0" i="0">
                <a:solidFill>
                  <a:srgbClr val="1D1D1B"/>
                </a:solidFill>
              </a:rPr>
              <a:t>1. Start as a customer</a:t>
            </a:r>
          </a:p>
          <a:p xmlns:a="http://schemas.openxmlformats.org/drawingml/2006/main">
            <a:pPr algn="l">
              <a:defRPr sz="1650" b="0" i="0">
                <a:solidFill>
                  <a:srgbClr val="1D1D1B"/>
                </a:solidFill>
              </a:defRPr>
            </a:pPr>
            <a:r>
              <a:rPr sz="1650" b="0" i="0">
                <a:solidFill>
                  <a:srgbClr val="1D1D1B"/>
                </a:solidFill>
              </a:rPr>
              <a:t>2. Use Quick Demo Fill</a:t>
            </a:r>
          </a:p>
          <a:p xmlns:a="http://schemas.openxmlformats.org/drawingml/2006/main">
            <a:pPr algn="l">
              <a:defRPr sz="1650" b="0" i="0">
                <a:solidFill>
                  <a:srgbClr val="1D1D1B"/>
                </a:solidFill>
              </a:defRPr>
            </a:pPr>
            <a:r>
              <a:rPr sz="1650" b="0" i="0">
                <a:solidFill>
                  <a:srgbClr val="1D1D1B"/>
                </a:solidFill>
              </a:rPr>
              <a:t>3. Generate five recommendations</a:t>
            </a:r>
          </a:p>
          <a:p xmlns:a="http://schemas.openxmlformats.org/drawingml/2006/main">
            <a:pPr algn="l">
              <a:defRPr sz="1650" b="0" i="0">
                <a:solidFill>
                  <a:srgbClr val="1D1D1B"/>
                </a:solidFill>
              </a:defRPr>
            </a:pPr>
            <a:r>
              <a:rPr sz="1650" b="0" i="0">
                <a:solidFill>
                  <a:srgbClr val="1D1D1B"/>
                </a:solidFill>
              </a:rPr>
              <a:t>4. Mark interest or feedback if signed in</a:t>
            </a:r>
          </a:p>
          <a:p xmlns:a="http://schemas.openxmlformats.org/drawingml/2006/main">
            <a:pPr algn="l">
              <a:defRPr sz="1650" b="0" i="0">
                <a:solidFill>
                  <a:srgbClr val="1D1D1B"/>
                </a:solidFill>
              </a:defRPr>
            </a:pPr>
            <a:r>
              <a:rPr sz="1650" b="0" i="0">
                <a:solidFill>
                  <a:srgbClr val="1D1D1B"/>
                </a:solidFill>
              </a:rPr>
              <a:t>5. Open the same session in Owner Intelligence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4C51EE-D375-481A-8DE7-D99C84A2C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105400"/>
            <a:ext cx="2000250" cy="323850"/>
          </a:xfrm>
          <a:prstGeom xmlns:a="http://schemas.openxmlformats.org/drawingml/2006/main" prst="roundRect">
            <a:avLst>
              <a:gd name="adj" fmla="val 29412"/>
            </a:avLst>
          </a:prstGeom>
          <a:solidFill xmlns:a="http://schemas.openxmlformats.org/drawingml/2006/main">
            <a:srgbClr val="DB1D1B"/>
          </a:solidFill>
          <a:ln xmlns:a="http://schemas.openxmlformats.org/drawingml/2006/main" w="0">
            <a:solidFill>
              <a:srgbClr val="DB1D1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4EFE3"/>
                </a:solidFill>
              </a:defRPr>
            </a:pPr>
            <a:r>
              <a:rPr sz="975" b="1">
                <a:solidFill>
                  <a:srgbClr val="F4EFE3"/>
                </a:solidFill>
              </a:rPr>
              <a:t>SWITCH TO BROWSER</a:t>
            </a:r>
          </a:p>
        </p:txBody>
      </p:sp>
    </p:spTree>
    <p:extLst>
      <p:ext uri="{BB962C8B-B14F-4D97-AF65-F5344CB8AC3E}">
        <p14:creationId xmlns:p14="http://schemas.microsoft.com/office/powerpoint/2010/main" val="6685182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EF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89360E2-E4A4-4497-B1E0-575F5E2C9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7429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1D1D1B"/>
                </a:solidFill>
              </a:defRPr>
            </a:pPr>
            <a:r>
              <a:rPr sz="3225" b="1" i="0">
                <a:solidFill>
                  <a:srgbClr val="1D1D1B"/>
                </a:solidFill>
              </a:rPr>
              <a:t>The prototype proves the loop is coherent.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D4CE97-9497-4D75-97CC-728F66CAB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66850"/>
            <a:ext cx="7524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8B2418"/>
                </a:solidFill>
              </a:defRPr>
            </a:pPr>
            <a:r>
              <a:rPr sz="1575" b="0" i="0">
                <a:solidFill>
                  <a:srgbClr val="8B2418"/>
                </a:solidFill>
              </a:rPr>
              <a:t>The system now moves beyond a static interface.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9D3ADC-7C5A-4E23-8C0C-ED11A770C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5265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1D1B"/>
          </a:solidFill>
          <a:ln xmlns:a="http://schemas.openxmlformats.org/drawingml/2006/main" w="0">
            <a:solidFill>
              <a:srgbClr val="DB1D1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3FFBC2-8E49-494C-84F0-24E2DCDEC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8B2418"/>
                </a:solidFill>
              </a:defRPr>
            </a:pPr>
            <a:r>
              <a:rPr sz="975" b="1" i="0">
                <a:solidFill>
                  <a:srgbClr val="8B2418"/>
                </a:solidFill>
              </a:rPr>
              <a:t>The Vinyl Concierge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2B78D6-0E25-4D7A-8D7A-46FD466B7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389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8B2418"/>
                </a:solidFill>
              </a:defRPr>
            </a:pPr>
            <a:r>
              <a:rPr sz="975" b="1" i="0">
                <a:solidFill>
                  <a:srgbClr val="8B2418"/>
                </a:solidFill>
              </a:rPr>
              <a:t>05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a9231f049240b0"/>
          <a:srcRect xmlns:a="http://schemas.openxmlformats.org/drawingml/2006/main" l="19903" t="0" r="1990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81800" y="876300"/>
            <a:ext cx="4476750" cy="4648200"/>
          </a:xfrm>
          <a:prstGeom xmlns:a="http://schemas.openxmlformats.org/drawingml/2006/main" prst="roundRect">
            <a:avLst>
              <a:gd name="adj" fmla="val 2128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F6D9B3-8B50-4EE0-AEF4-39F371725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5162550" cy="2228850"/>
          </a:xfrm>
          <a:prstGeom xmlns:a="http://schemas.openxmlformats.org/drawingml/2006/main" prst="roundRect">
            <a:avLst>
              <a:gd name="adj" fmla="val 3419"/>
            </a:avLst>
          </a:prstGeom>
          <a:solidFill xmlns:a="http://schemas.openxmlformats.org/drawingml/2006/main">
            <a:srgbClr val="ECE5D2"/>
          </a:solidFill>
          <a:ln xmlns:a="http://schemas.openxmlformats.org/drawingml/2006/main" w="9525">
            <a:solidFill>
              <a:srgbClr val="D6C7A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B17170-4D1E-4225-8CCD-90EA934F8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2895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1D1D1B"/>
                </a:solidFill>
              </a:defRPr>
            </a:pPr>
            <a:r>
              <a:rPr sz="2175" b="1" i="0">
                <a:solidFill>
                  <a:srgbClr val="1D1D1B"/>
                </a:solidFill>
              </a:rPr>
              <a:t>What works today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CDEA2E-ED53-4F8E-B322-38346EAAF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81400"/>
            <a:ext cx="41910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D1D1B"/>
                </a:solidFill>
              </a:defRPr>
            </a:pPr>
            <a:r>
              <a:rPr sz="1575" b="0" i="0">
                <a:solidFill>
                  <a:srgbClr val="1D1D1B"/>
                </a:solidFill>
              </a:rPr>
              <a:t>Customer request to recommendations</a:t>
            </a:r>
          </a:p>
          <a:p xmlns:a="http://schemas.openxmlformats.org/drawingml/2006/main">
            <a:pPr algn="l">
              <a:defRPr sz="1575" b="0" i="0">
                <a:solidFill>
                  <a:srgbClr val="1D1D1B"/>
                </a:solidFill>
              </a:defRPr>
            </a:pPr>
            <a:r>
              <a:rPr sz="1575" b="0" i="0">
                <a:solidFill>
                  <a:srgbClr val="1D1D1B"/>
                </a:solidFill>
              </a:rPr>
              <a:t>Signed-in private session persistence</a:t>
            </a:r>
          </a:p>
          <a:p xmlns:a="http://schemas.openxmlformats.org/drawingml/2006/main">
            <a:pPr algn="l">
              <a:defRPr sz="1575" b="0" i="0">
                <a:solidFill>
                  <a:srgbClr val="1D1D1B"/>
                </a:solidFill>
              </a:defRPr>
            </a:pPr>
            <a:r>
              <a:rPr sz="1575" b="0" i="0">
                <a:solidFill>
                  <a:srgbClr val="1D1D1B"/>
                </a:solidFill>
              </a:rPr>
              <a:t>Owner-readable anonymized interest signals</a:t>
            </a:r>
          </a:p>
          <a:p xmlns:a="http://schemas.openxmlformats.org/drawingml/2006/main">
            <a:pPr algn="l">
              <a:defRPr sz="1575" b="0" i="0">
                <a:solidFill>
                  <a:srgbClr val="1D1D1B"/>
                </a:solidFill>
              </a:defRPr>
            </a:pPr>
            <a:r>
              <a:rPr sz="1575" b="0" i="0">
                <a:solidFill>
                  <a:srgbClr val="1D1D1B"/>
                </a:solidFill>
              </a:rPr>
              <a:t>Same-session sourcing review</a:t>
            </a:r>
          </a:p>
          <a:p xmlns:a="http://schemas.openxmlformats.org/drawingml/2006/main">
            <a:pPr algn="l">
              <a:defRPr sz="1575" b="0" i="0">
                <a:solidFill>
                  <a:srgbClr val="1D1D1B"/>
                </a:solidFill>
              </a:defRPr>
            </a:pPr>
            <a:r>
              <a:rPr sz="1575" b="0" i="0">
                <a:solidFill>
                  <a:srgbClr val="1D1D1B"/>
                </a:solidFill>
              </a:rPr>
              <a:t>Clear labels for demo data and low sample size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4EE96E-E236-4F55-BD8F-A7EAD8D65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33400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8B2418"/>
                </a:solidFill>
              </a:defRPr>
            </a:pPr>
            <a:r>
              <a:rPr sz="1725" b="1" i="0">
                <a:solidFill>
                  <a:srgbClr val="8B2418"/>
                </a:solidFill>
              </a:rPr>
              <a:t>The product is strongest when AI supports the handoff between customer discovery and owner judgment.</a:t>
            </a:r>
          </a:p>
        </p:txBody>
      </p:sp>
    </p:spTree>
    <p:extLst>
      <p:ext uri="{BB962C8B-B14F-4D97-AF65-F5344CB8AC3E}">
        <p14:creationId xmlns:p14="http://schemas.microsoft.com/office/powerpoint/2010/main" val="153453609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EF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7AB99C7-75F7-454B-B53B-CD42A2618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7429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1D1D1B"/>
                </a:solidFill>
              </a:defRPr>
            </a:pPr>
            <a:r>
              <a:rPr sz="3225" b="1" i="0">
                <a:solidFill>
                  <a:srgbClr val="1D1D1B"/>
                </a:solidFill>
              </a:rPr>
              <a:t>Feedback changed the product because trust depends on honesty.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9F9922-ABB3-4FDF-820E-B66310234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66850"/>
            <a:ext cx="7524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8B2418"/>
                </a:solidFill>
              </a:defRPr>
            </a:pPr>
            <a:r>
              <a:rPr sz="1575" b="0" i="0">
                <a:solidFill>
                  <a:srgbClr val="8B2418"/>
                </a:solidFill>
              </a:rPr>
              <a:t>Tester feedback and AI review pushed the prototype toward clearer claims.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F28443-048E-4ED3-8CA6-E6A418118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5265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1D1B"/>
          </a:solidFill>
          <a:ln xmlns:a="http://schemas.openxmlformats.org/drawingml/2006/main" w="0">
            <a:solidFill>
              <a:srgbClr val="DB1D1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994584-5622-4E3C-9284-F90C95EAA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8B2418"/>
                </a:solidFill>
              </a:defRPr>
            </a:pPr>
            <a:r>
              <a:rPr sz="975" b="1" i="0">
                <a:solidFill>
                  <a:srgbClr val="8B2418"/>
                </a:solidFill>
              </a:rPr>
              <a:t>The Vinyl Concierge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1D2312-D21B-4BE7-BA36-5E383692F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389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8B2418"/>
                </a:solidFill>
              </a:defRPr>
            </a:pPr>
            <a:r>
              <a:rPr sz="975" b="1" i="0">
                <a:solidFill>
                  <a:srgbClr val="8B2418"/>
                </a:solidFill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00764F-DCA4-4DA9-9CEB-89D577AA4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43200"/>
            <a:ext cx="3143250" cy="23241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ECE5D2"/>
          </a:solidFill>
          <a:ln xmlns:a="http://schemas.openxmlformats.org/drawingml/2006/main" w="9525">
            <a:solidFill>
              <a:srgbClr val="D6C7A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1132E3-74EB-411F-BA5E-E72650BA3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743200"/>
            <a:ext cx="3143250" cy="23241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ECE5D2"/>
          </a:solidFill>
          <a:ln xmlns:a="http://schemas.openxmlformats.org/drawingml/2006/main" w="9525">
            <a:solidFill>
              <a:srgbClr val="D6C7A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2C819C-5A73-439F-A899-1A1EED03F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743200"/>
            <a:ext cx="3143250" cy="23241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ECE5D2"/>
          </a:solidFill>
          <a:ln xmlns:a="http://schemas.openxmlformats.org/drawingml/2006/main" w="9525">
            <a:solidFill>
              <a:srgbClr val="D6C7A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3A9950-434E-4124-BDDD-12542C477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2895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D1D1B"/>
                </a:solidFill>
              </a:defRPr>
            </a:pPr>
            <a:r>
              <a:rPr sz="1875" b="1" i="0">
                <a:solidFill>
                  <a:srgbClr val="1D1D1B"/>
                </a:solidFill>
              </a:rPr>
              <a:t>People asked for clarity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83DB9E-5019-4BC0-838E-890DEB6A6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57600"/>
            <a:ext cx="23431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D1D1B"/>
                </a:solidFill>
              </a:defRPr>
            </a:pPr>
            <a:r>
              <a:rPr sz="1500" b="0" i="0">
                <a:solidFill>
                  <a:srgbClr val="1D1D1B"/>
                </a:solidFill>
              </a:rPr>
              <a:t>Bigger type, simpler prompts, clearer input requirements, and less niche record-store language.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CAEF22-7FA9-48E3-8B82-1E47947A4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02895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D1D1B"/>
                </a:solidFill>
              </a:defRPr>
            </a:pPr>
            <a:r>
              <a:rPr sz="1875" b="1" i="0">
                <a:solidFill>
                  <a:srgbClr val="1D1D1B"/>
                </a:solidFill>
              </a:rPr>
              <a:t>UI claims were tightened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08FF9E-8414-4CEA-898B-A89CF5184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657600"/>
            <a:ext cx="23431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D1D1B"/>
                </a:solidFill>
              </a:defRPr>
            </a:pPr>
            <a:r>
              <a:rPr sz="1500" b="0" i="0">
                <a:solidFill>
                  <a:srgbClr val="1D1D1B"/>
                </a:solidFill>
              </a:rPr>
              <a:t>Cart-like and playback-like cues were removed. Saved interest became a heart-based prototype signal.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FAB04B-8E7E-4510-90F7-5E220520D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02895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D1D1B"/>
                </a:solidFill>
              </a:defRPr>
            </a:pPr>
            <a:r>
              <a:rPr sz="1875" b="1" i="0">
                <a:solidFill>
                  <a:srgbClr val="1D1D1B"/>
                </a:solidFill>
              </a:rPr>
              <a:t>Risk review shaped the backend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FDB423-B293-4D89-B0EB-1070B2BEB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657600"/>
            <a:ext cx="23431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D1D1B"/>
                </a:solidFill>
              </a:defRPr>
            </a:pPr>
            <a:r>
              <a:rPr sz="1500" b="0" i="0">
                <a:solidFill>
                  <a:srgbClr val="1D1D1B"/>
                </a:solidFill>
              </a:rPr>
              <a:t>Firestore rules, signal validation, role protection, and cautious owner language became part of the final story.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6C09AE-8CEE-4155-A4EA-E3B6F3234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467350"/>
            <a:ext cx="9191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8B2418"/>
                </a:solidFill>
              </a:defRPr>
            </a:pPr>
            <a:r>
              <a:rPr sz="1800" b="1" i="0">
                <a:solidFill>
                  <a:srgbClr val="8B2418"/>
                </a:solidFill>
              </a:rPr>
              <a:t>The final prototype is more credible because it says what is built, what is synthetic, and what remains future work.</a:t>
            </a:r>
          </a:p>
        </p:txBody>
      </p:sp>
    </p:spTree>
    <p:extLst>
      <p:ext uri="{BB962C8B-B14F-4D97-AF65-F5344CB8AC3E}">
        <p14:creationId xmlns:p14="http://schemas.microsoft.com/office/powerpoint/2010/main" val="45012986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EF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4A8885-B12F-4810-B272-E3CEE0C96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7429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1D1D1B"/>
                </a:solidFill>
              </a:defRPr>
            </a:pPr>
            <a:r>
              <a:rPr sz="3225" b="1" i="0">
                <a:solidFill>
                  <a:srgbClr val="1D1D1B"/>
                </a:solidFill>
              </a:rPr>
              <a:t>The main risk is overclaiming what the signals mean.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4F7F1D-DC8C-4F95-AC82-95E312D9E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66850"/>
            <a:ext cx="7524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8B2418"/>
                </a:solidFill>
              </a:defRPr>
            </a:pPr>
            <a:r>
              <a:rPr sz="1575" b="0" i="0">
                <a:solidFill>
                  <a:srgbClr val="8B2418"/>
                </a:solidFill>
              </a:rPr>
              <a:t>Responsible deployment requires transparency, validation, and human review.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346648-1DB0-435B-88FF-088A37ED3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5265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1D1B"/>
          </a:solidFill>
          <a:ln xmlns:a="http://schemas.openxmlformats.org/drawingml/2006/main" w="0">
            <a:solidFill>
              <a:srgbClr val="DB1D1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BDD550-DF95-46B8-899A-513B0C7FF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8B2418"/>
                </a:solidFill>
              </a:defRPr>
            </a:pPr>
            <a:r>
              <a:rPr sz="975" b="1" i="0">
                <a:solidFill>
                  <a:srgbClr val="8B2418"/>
                </a:solidFill>
              </a:rPr>
              <a:t>The Vinyl Concierge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287C4C-378F-4A0A-9877-185087FB9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389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8B2418"/>
                </a:solidFill>
              </a:defRPr>
            </a:pPr>
            <a:r>
              <a:rPr sz="975" b="1" i="0">
                <a:solidFill>
                  <a:srgbClr val="8B2418"/>
                </a:solidFill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09B5D1-C867-43B7-BE9D-424A963DB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24150"/>
            <a:ext cx="4762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CE5D2"/>
          </a:solidFill>
          <a:ln xmlns:a="http://schemas.openxmlformats.org/drawingml/2006/main" w="9525">
            <a:solidFill>
              <a:srgbClr val="D6C7A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5312FE-4317-43AE-BD7D-85F6ADEB2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24150"/>
            <a:ext cx="4762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CE5D2"/>
          </a:solidFill>
          <a:ln xmlns:a="http://schemas.openxmlformats.org/drawingml/2006/main" w="9525">
            <a:solidFill>
              <a:srgbClr val="D6C7A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7C8CF5-4EB2-4492-A29A-D50040A8A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289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1D1D1B"/>
                </a:solidFill>
              </a:defRPr>
            </a:pPr>
            <a:r>
              <a:rPr sz="2175" b="1" i="0">
                <a:solidFill>
                  <a:srgbClr val="1D1D1B"/>
                </a:solidFill>
              </a:rPr>
              <a:t>Risk areas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936C17-52DA-492E-A376-F882330AD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581400"/>
            <a:ext cx="3619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D1D1B"/>
                </a:solidFill>
              </a:defRPr>
            </a:pPr>
            <a:r>
              <a:rPr sz="1575" b="0" i="0">
                <a:solidFill>
                  <a:srgbClr val="1D1D1B"/>
                </a:solidFill>
              </a:rPr>
              <a:t>Interest signals are not purchases</a:t>
            </a:r>
          </a:p>
          <a:p xmlns:a="http://schemas.openxmlformats.org/drawingml/2006/main">
            <a:pPr algn="l">
              <a:defRPr sz="1575" b="0" i="0">
                <a:solidFill>
                  <a:srgbClr val="1D1D1B"/>
                </a:solidFill>
              </a:defRPr>
            </a:pPr>
            <a:r>
              <a:rPr sz="1575" b="0" i="0">
                <a:solidFill>
                  <a:srgbClr val="1D1D1B"/>
                </a:solidFill>
              </a:rPr>
              <a:t>A limited catalog can bias results</a:t>
            </a:r>
          </a:p>
          <a:p xmlns:a="http://schemas.openxmlformats.org/drawingml/2006/main">
            <a:pPr algn="l">
              <a:defRPr sz="1575" b="0" i="0">
                <a:solidFill>
                  <a:srgbClr val="1D1D1B"/>
                </a:solidFill>
              </a:defRPr>
            </a:pPr>
            <a:r>
              <a:rPr sz="1575" b="0" i="0">
                <a:solidFill>
                  <a:srgbClr val="1D1D1B"/>
                </a:solidFill>
              </a:rPr>
              <a:t>Broad tags can weaken matching</a:t>
            </a:r>
          </a:p>
          <a:p xmlns:a="http://schemas.openxmlformats.org/drawingml/2006/main">
            <a:pPr algn="l">
              <a:defRPr sz="1575" b="0" i="0">
                <a:solidFill>
                  <a:srgbClr val="1D1D1B"/>
                </a:solidFill>
              </a:defRPr>
            </a:pPr>
            <a:r>
              <a:rPr sz="1575" b="0" i="0">
                <a:solidFill>
                  <a:srgbClr val="1D1D1B"/>
                </a:solidFill>
              </a:rPr>
              <a:t>Owner dashboards can create automation bias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AB3C41-7D18-41E0-A48B-982F6D64B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0289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1D1D1B"/>
                </a:solidFill>
              </a:defRPr>
            </a:pPr>
            <a:r>
              <a:rPr sz="2175" b="1" i="0">
                <a:solidFill>
                  <a:srgbClr val="1D1D1B"/>
                </a:solidFill>
              </a:rPr>
              <a:t>Controls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EBD87A-9967-4414-ADD4-C9FD1A597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581400"/>
            <a:ext cx="3619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D1D1B"/>
                </a:solidFill>
              </a:defRPr>
            </a:pPr>
            <a:r>
              <a:rPr sz="1575" b="0" i="0">
                <a:solidFill>
                  <a:srgbClr val="1D1D1B"/>
                </a:solidFill>
              </a:rPr>
              <a:t>Prototype notices and match labels</a:t>
            </a:r>
          </a:p>
          <a:p xmlns:a="http://schemas.openxmlformats.org/drawingml/2006/main">
            <a:pPr algn="l">
              <a:defRPr sz="1575" b="0" i="0">
                <a:solidFill>
                  <a:srgbClr val="1D1D1B"/>
                </a:solidFill>
              </a:defRPr>
            </a:pPr>
            <a:r>
              <a:rPr sz="1575" b="0" i="0">
                <a:solidFill>
                  <a:srgbClr val="1D1D1B"/>
                </a:solidFill>
              </a:rPr>
              <a:t>Private sessions and anonymized signals</a:t>
            </a:r>
          </a:p>
          <a:p xmlns:a="http://schemas.openxmlformats.org/drawingml/2006/main">
            <a:pPr algn="l">
              <a:defRPr sz="1575" b="0" i="0">
                <a:solidFill>
                  <a:srgbClr val="1D1D1B"/>
                </a:solidFill>
              </a:defRPr>
            </a:pPr>
            <a:r>
              <a:rPr sz="1575" b="0" i="0">
                <a:solidFill>
                  <a:srgbClr val="1D1D1B"/>
                </a:solidFill>
              </a:rPr>
              <a:t>Firestore validation and role protection</a:t>
            </a:r>
          </a:p>
          <a:p xmlns:a="http://schemas.openxmlformats.org/drawingml/2006/main">
            <a:pPr algn="l">
              <a:defRPr sz="1575" b="0" i="0">
                <a:solidFill>
                  <a:srgbClr val="1D1D1B"/>
                </a:solidFill>
              </a:defRPr>
            </a:pPr>
            <a:r>
              <a:rPr sz="1575" b="0" i="0">
                <a:solidFill>
                  <a:srgbClr val="1D1D1B"/>
                </a:solidFill>
              </a:rPr>
              <a:t>Human review before inventory decisions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EA45CF-7ED5-4AF8-B945-3765A2CBD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429250"/>
            <a:ext cx="2000250" cy="323850"/>
          </a:xfrm>
          <a:prstGeom xmlns:a="http://schemas.openxmlformats.org/drawingml/2006/main" prst="roundRect">
            <a:avLst>
              <a:gd name="adj" fmla="val 29412"/>
            </a:avLst>
          </a:prstGeom>
          <a:solidFill xmlns:a="http://schemas.openxmlformats.org/drawingml/2006/main">
            <a:srgbClr val="1D1D1B"/>
          </a:solidFill>
          <a:ln xmlns:a="http://schemas.openxmlformats.org/drawingml/2006/main" w="0">
            <a:solidFill>
              <a:srgbClr val="1D1D1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4EFE3"/>
                </a:solidFill>
              </a:defRPr>
            </a:pPr>
            <a:r>
              <a:rPr sz="975" b="1">
                <a:solidFill>
                  <a:srgbClr val="F4EFE3"/>
                </a:solidFill>
              </a:rPr>
              <a:t>WATCH IN PRODUCTION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09FB58-84B6-4649-B199-369DB353E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41020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8B2418"/>
                </a:solidFill>
              </a:defRPr>
            </a:pPr>
            <a:r>
              <a:rPr sz="1425" b="0" i="0">
                <a:solidFill>
                  <a:srgbClr val="8B2418"/>
                </a:solidFill>
              </a:rPr>
              <a:t>Complaint rate, weak matches, unusual demand spikes, stale inventory syncs, permission errors, and staff overrides.</a:t>
            </a:r>
          </a:p>
        </p:txBody>
      </p:sp>
    </p:spTree>
    <p:extLst>
      <p:ext uri="{BB962C8B-B14F-4D97-AF65-F5344CB8AC3E}">
        <p14:creationId xmlns:p14="http://schemas.microsoft.com/office/powerpoint/2010/main" val="145985642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D1D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3fe6ccd04a46d4"/>
          <a:stretch xmlns:a="http://schemas.openxmlformats.org/drawingml/2006/main"/>
        </p:blipFill>
        <p:spPr>
          <a:xfrm xmlns:a="http://schemas.openxmlformats.org/drawingml/2006/main">
            <a:off x="619334" y="590550"/>
            <a:ext cx="1199732" cy="12192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364372-0EC2-4314-BF3E-925F5F02F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2286000" cy="323850"/>
          </a:xfrm>
          <a:prstGeom xmlns:a="http://schemas.openxmlformats.org/drawingml/2006/main" prst="roundRect">
            <a:avLst>
              <a:gd name="adj" fmla="val 29412"/>
            </a:avLst>
          </a:prstGeom>
          <a:solidFill xmlns:a="http://schemas.openxmlformats.org/drawingml/2006/main">
            <a:srgbClr val="DB1D1B"/>
          </a:solidFill>
          <a:ln xmlns:a="http://schemas.openxmlformats.org/drawingml/2006/main" w="0">
            <a:solidFill>
              <a:srgbClr val="DB1D1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4EFE3"/>
                </a:solidFill>
              </a:defRPr>
            </a:pPr>
            <a:r>
              <a:rPr sz="975" b="1">
                <a:solidFill>
                  <a:srgbClr val="F4EFE3"/>
                </a:solidFill>
              </a:rPr>
              <a:t>DEPLOYMENT JUDGMENT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AFC621-9893-484E-8C6F-978288E9B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6953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F4EFE3"/>
                </a:solidFill>
              </a:defRPr>
            </a:pPr>
            <a:r>
              <a:rPr sz="3450" b="1" i="0">
                <a:solidFill>
                  <a:srgbClr val="F4EFE3"/>
                </a:solidFill>
              </a:rPr>
              <a:t>Not ready for a commercial</a:t>
            </a:r>
          </a:p>
          <a:p xmlns:a="http://schemas.openxmlformats.org/drawingml/2006/main">
            <a:pPr algn="l">
              <a:defRPr sz="3450" b="1" i="0">
                <a:solidFill>
                  <a:srgbClr val="F4EFE3"/>
                </a:solidFill>
              </a:defRPr>
            </a:pPr>
            <a:r>
              <a:rPr sz="3450" b="1" i="0">
                <a:solidFill>
                  <a:srgbClr val="F4EFE3"/>
                </a:solidFill>
              </a:rPr>
              <a:t>pilot yet.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43BA08-A340-4419-9169-87D702534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43350"/>
            <a:ext cx="7000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C9A878"/>
                </a:solidFill>
              </a:defRPr>
            </a:pPr>
            <a:r>
              <a:rPr sz="2025" b="0" i="0">
                <a:solidFill>
                  <a:srgbClr val="C9A878"/>
                </a:solidFill>
              </a:rPr>
              <a:t>The ask: move into an integration-ready pre-pilot.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486334-3D54-439C-BEFA-3284D4EE2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200150"/>
            <a:ext cx="3143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4EFE3"/>
          </a:solidFill>
          <a:ln xmlns:a="http://schemas.openxmlformats.org/drawingml/2006/main" w="9525">
            <a:solidFill>
              <a:srgbClr val="D6C7A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920B3B-DAB8-4E23-A497-A17F4660E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5049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D1D1B"/>
                </a:solidFill>
              </a:defRPr>
            </a:pPr>
            <a:r>
              <a:rPr sz="2025" b="1" i="0">
                <a:solidFill>
                  <a:srgbClr val="1D1D1B"/>
                </a:solidFill>
              </a:rPr>
              <a:t>Next foundations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496AE4-C927-4A85-9F4C-A0CE90ADD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76450"/>
            <a:ext cx="21907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D1D1B"/>
                </a:solidFill>
              </a:defRPr>
            </a:pPr>
            <a:r>
              <a:rPr sz="1575" b="0" i="0">
                <a:solidFill>
                  <a:srgbClr val="1D1D1B"/>
                </a:solidFill>
              </a:rPr>
              <a:t>Live inventory</a:t>
            </a:r>
          </a:p>
          <a:p xmlns:a="http://schemas.openxmlformats.org/drawingml/2006/main">
            <a:pPr algn="l">
              <a:defRPr sz="1575" b="0" i="0">
                <a:solidFill>
                  <a:srgbClr val="1D1D1B"/>
                </a:solidFill>
              </a:defRPr>
            </a:pPr>
            <a:r>
              <a:rPr sz="1575" b="0" i="0">
                <a:solidFill>
                  <a:srgbClr val="1D1D1B"/>
                </a:solidFill>
              </a:rPr>
              <a:t>POS or ecommerce data</a:t>
            </a:r>
          </a:p>
          <a:p xmlns:a="http://schemas.openxmlformats.org/drawingml/2006/main">
            <a:pPr algn="l">
              <a:defRPr sz="1575" b="0" i="0">
                <a:solidFill>
                  <a:srgbClr val="1D1D1B"/>
                </a:solidFill>
              </a:defRPr>
            </a:pPr>
            <a:r>
              <a:rPr sz="1575" b="0" i="0">
                <a:solidFill>
                  <a:srgbClr val="1D1D1B"/>
                </a:solidFill>
              </a:rPr>
              <a:t>Purchase validation</a:t>
            </a:r>
          </a:p>
          <a:p xmlns:a="http://schemas.openxmlformats.org/drawingml/2006/main">
            <a:pPr algn="l">
              <a:defRPr sz="1575" b="0" i="0">
                <a:solidFill>
                  <a:srgbClr val="1D1D1B"/>
                </a:solidFill>
              </a:defRPr>
            </a:pPr>
            <a:r>
              <a:rPr sz="1575" b="0" i="0">
                <a:solidFill>
                  <a:srgbClr val="1D1D1B"/>
                </a:solidFill>
              </a:rPr>
              <a:t>Monitoring thresholds</a:t>
            </a:r>
          </a:p>
          <a:p xmlns:a="http://schemas.openxmlformats.org/drawingml/2006/main">
            <a:pPr algn="l">
              <a:defRPr sz="1575" b="0" i="0">
                <a:solidFill>
                  <a:srgbClr val="1D1D1B"/>
                </a:solidFill>
              </a:defRPr>
            </a:pPr>
            <a:r>
              <a:rPr sz="1575" b="0" i="0">
                <a:solidFill>
                  <a:srgbClr val="1D1D1B"/>
                </a:solidFill>
              </a:rPr>
              <a:t>Store-specific rollout support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2E9583-B1C3-4366-B399-97DF84D40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10150"/>
            <a:ext cx="666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F4EFE3"/>
                </a:solidFill>
              </a:defRPr>
            </a:pPr>
            <a:r>
              <a:rPr sz="1725" b="1" i="0">
                <a:solidFill>
                  <a:srgbClr val="F4EFE3"/>
                </a:solidFill>
              </a:rPr>
              <a:t>The recommendation engine is not the whole product. The stronger business is the feedback loop between discovery, privacy-protected signals, owner review, and inventory planning.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E94DD4-7C56-4F0B-B85D-D3B92E001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389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C9A878"/>
                </a:solidFill>
              </a:defRPr>
            </a:pPr>
            <a:r>
              <a:rPr sz="975" b="1" i="0">
                <a:solidFill>
                  <a:srgbClr val="C9A878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981075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2026-07-07T22:54:43.4340000Z</dcterms:created>
  <dcterms:modified xsi:type="dcterms:W3CDTF">2026-07-07T22:54:43.4340000Z</dcterms:modified>
</coreProperties>
</file>